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7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INO · 乐创营 Input-Output 组织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1274552" cy="658368"/>
          </a:xfrm>
          <a:prstGeom prst="roundRect">
            <a:avLst>
              <a:gd name="adj" fmla="val 6944"/>
            </a:avLst>
          </a:prstGeom>
          <a:solidFill>
            <a:srgbClr val="FFF5EC"/>
          </a:solidFill>
          <a:ln w="10160">
            <a:solidFill>
              <a:srgbClr val="E8772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777240"/>
            <a:ext cx="54864" cy="658368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914400"/>
            <a:ext cx="397764" cy="201168"/>
          </a:xfrm>
          <a:prstGeom prst="roundRect">
            <a:avLst>
              <a:gd name="adj" fmla="val 18182"/>
            </a:avLst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914400"/>
            <a:ext cx="3977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INO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225296" y="795528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INO 是乐创ink的知识循环引擎——</a:t>
            </a:r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</a:rPr>
              <a:t>  吸收外部信号，内部熔炼转化，持续向外输出影响力。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536192"/>
            <a:ext cx="5577840" cy="5193792"/>
          </a:xfrm>
          <a:prstGeom prst="roundRect">
            <a:avLst>
              <a:gd name="adj" fmla="val 1408"/>
            </a:avLst>
          </a:prstGeom>
          <a:solidFill>
            <a:srgbClr val="F5F4F1"/>
          </a:solidFill>
          <a:ln w="10160">
            <a:solidFill>
              <a:srgbClr val="E8E4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1609344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</a:rPr>
              <a:t>生态连接  Ecosystem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91072" y="1536192"/>
            <a:ext cx="5577840" cy="5193792"/>
          </a:xfrm>
          <a:prstGeom prst="roundRect">
            <a:avLst>
              <a:gd name="adj" fmla="val 1408"/>
            </a:avLst>
          </a:prstGeom>
          <a:solidFill>
            <a:srgbClr val="F5F4F1"/>
          </a:solidFill>
          <a:ln w="10160">
            <a:solidFill>
              <a:srgbClr val="E8E4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55664" y="1609344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</a:rPr>
              <a:t>运转机制  How We Work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569464" y="2084832"/>
            <a:ext cx="1353312" cy="1353312"/>
          </a:xfrm>
          <a:prstGeom prst="ellipse">
            <a:avLst/>
          </a:prstGeom>
          <a:solidFill>
            <a:srgbClr val="7E94B8"/>
          </a:solidFill>
          <a:ln w="12700">
            <a:solidFill>
              <a:srgbClr val="7E94B8"/>
            </a:solidFill>
            <a:prstDash val="solid"/>
          </a:ln>
          <a:effectLst>
            <a:outerShdw sx="100000" sy="100000" kx="0" ky="0" algn="bl" rotWithShape="0" blurRad="127000" dist="63500" dir="27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624328" y="2139696"/>
            <a:ext cx="1243584" cy="12435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业务端</a:t>
            </a:r>
            <a:endParaRPr lang="en-US" sz="15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出需求·定方向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2496312" y="3959352"/>
            <a:ext cx="1499616" cy="1499616"/>
          </a:xfrm>
          <a:prstGeom prst="ellipse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  <a:effectLst>
            <a:outerShdw sx="100000" sy="100000" kx="0" ky="0" algn="bl" rotWithShape="0" blurRad="127000" dist="63500" dir="2700000">
              <a:srgbClr val="000000">
                <a:alpha val="1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551176" y="4014216"/>
            <a:ext cx="1389888" cy="1389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乐创营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（INO）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统筹·连接·运营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480560" y="4087368"/>
            <a:ext cx="1243584" cy="1243584"/>
          </a:xfrm>
          <a:prstGeom prst="ellipse">
            <a:avLst/>
          </a:prstGeom>
          <a:solidFill>
            <a:srgbClr val="D6BE84"/>
          </a:solidFill>
          <a:ln w="12700">
            <a:solidFill>
              <a:srgbClr val="D6BE84"/>
            </a:solidFill>
            <a:prstDash val="solid"/>
          </a:ln>
          <a:effectLst>
            <a:outerShdw sx="100000" sy="100000" kx="0" ky="0" algn="bl" rotWithShape="0" blurRad="127000" dist="63500" dir="2700000">
              <a:srgbClr val="000000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35424" y="4142232"/>
            <a:ext cx="1133856" cy="11338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创造营</a:t>
            </a:r>
            <a:endParaRPr lang="en-US" sz="15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能力·经验·知识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68096" y="4087368"/>
            <a:ext cx="1243584" cy="1243584"/>
          </a:xfrm>
          <a:prstGeom prst="ellipse">
            <a:avLst/>
          </a:prstGeom>
          <a:solidFill>
            <a:srgbClr val="C79AA5"/>
          </a:solidFill>
          <a:ln w="12700">
            <a:solidFill>
              <a:srgbClr val="C79AA5"/>
            </a:solidFill>
            <a:prstDash val="solid"/>
          </a:ln>
          <a:effectLst>
            <a:outerShdw sx="100000" sy="100000" kx="0" ky="0" algn="bl" rotWithShape="0" blurRad="127000" dist="63500" dir="2700000">
              <a:srgbClr val="000000">
                <a:alpha val="14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22960" y="4142232"/>
            <a:ext cx="1133856" cy="11338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各核心分支</a:t>
            </a:r>
            <a:endParaRPr lang="en-US" sz="15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A · B · C · D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3246120" y="3438144"/>
            <a:ext cx="9144" cy="521208"/>
          </a:xfrm>
          <a:prstGeom prst="line">
            <a:avLst/>
          </a:prstGeom>
          <a:noFill/>
          <a:ln w="19050">
            <a:solidFill>
              <a:srgbClr val="9AA6B8"/>
            </a:solidFill>
            <a:prstDash val="dash"/>
            <a:headEnd type="open"/>
            <a:tailEnd type="open"/>
          </a:ln>
        </p:spPr>
      </p:sp>
      <p:sp>
        <p:nvSpPr>
          <p:cNvPr id="21" name="Shape 19"/>
          <p:cNvSpPr/>
          <p:nvPr/>
        </p:nvSpPr>
        <p:spPr>
          <a:xfrm>
            <a:off x="3995928" y="4709160"/>
            <a:ext cx="484632" cy="9144"/>
          </a:xfrm>
          <a:prstGeom prst="line">
            <a:avLst/>
          </a:prstGeom>
          <a:noFill/>
          <a:ln w="19050">
            <a:solidFill>
              <a:srgbClr val="9AA6B8"/>
            </a:solidFill>
            <a:prstDash val="dash"/>
            <a:headEnd type="open"/>
            <a:tailEnd type="open"/>
          </a:ln>
        </p:spPr>
      </p:sp>
      <p:sp>
        <p:nvSpPr>
          <p:cNvPr id="22" name="Shape 20"/>
          <p:cNvSpPr/>
          <p:nvPr/>
        </p:nvSpPr>
        <p:spPr>
          <a:xfrm flipH="1">
            <a:off x="2011680" y="4709160"/>
            <a:ext cx="484632" cy="9144"/>
          </a:xfrm>
          <a:prstGeom prst="line">
            <a:avLst/>
          </a:prstGeom>
          <a:noFill/>
          <a:ln w="19050">
            <a:solidFill>
              <a:srgbClr val="9AA6B8"/>
            </a:solidFill>
            <a:prstDash val="dash"/>
            <a:headEnd type="open"/>
            <a:tailEnd type="open"/>
          </a:ln>
        </p:spPr>
      </p:sp>
      <p:sp>
        <p:nvSpPr>
          <p:cNvPr id="23" name="Shape 21"/>
          <p:cNvSpPr/>
          <p:nvPr/>
        </p:nvSpPr>
        <p:spPr>
          <a:xfrm>
            <a:off x="3721608" y="3227832"/>
            <a:ext cx="941832" cy="1042416"/>
          </a:xfrm>
          <a:prstGeom prst="line">
            <a:avLst/>
          </a:prstGeom>
          <a:noFill/>
          <a:ln w="19050">
            <a:solidFill>
              <a:srgbClr val="9AA6B8"/>
            </a:solidFill>
            <a:prstDash val="dash"/>
            <a:headEnd type="none"/>
            <a:tailEnd type="open"/>
          </a:ln>
        </p:spPr>
      </p:sp>
      <p:sp>
        <p:nvSpPr>
          <p:cNvPr id="24" name="Shape 22"/>
          <p:cNvSpPr/>
          <p:nvPr/>
        </p:nvSpPr>
        <p:spPr>
          <a:xfrm flipV="1">
            <a:off x="1828800" y="3227832"/>
            <a:ext cx="941832" cy="1042416"/>
          </a:xfrm>
          <a:prstGeom prst="line">
            <a:avLst/>
          </a:prstGeom>
          <a:noFill/>
          <a:ln w="19050">
            <a:solidFill>
              <a:srgbClr val="9AA6B8"/>
            </a:solidFill>
            <a:prstDash val="dash"/>
            <a:headEnd type="none"/>
            <a:tailEnd type="open"/>
          </a:ln>
        </p:spPr>
      </p:sp>
      <p:sp>
        <p:nvSpPr>
          <p:cNvPr id="25" name="Shape 23"/>
          <p:cNvSpPr/>
          <p:nvPr/>
        </p:nvSpPr>
        <p:spPr>
          <a:xfrm>
            <a:off x="2496312" y="3511296"/>
            <a:ext cx="1499616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8890">
            <a:solidFill>
              <a:srgbClr val="DDDDDD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2587752" y="3511296"/>
            <a:ext cx="13167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</a:rPr>
              <a:t>业务端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提出真实需求，定义活动方向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468880" y="5513832"/>
            <a:ext cx="155448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8890">
            <a:solidFill>
              <a:srgbClr val="DDDDDD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2560320" y="5513832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</a:rPr>
              <a:t>乐创营（INO）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连接内外，稳定闭环运转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389120" y="5385816"/>
            <a:ext cx="1426464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8890">
            <a:solidFill>
              <a:srgbClr val="DDDDDD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480560" y="5385816"/>
            <a:ext cx="124358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</a:rPr>
              <a:t>创造营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沉淀能力与知识，转化可复用资产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76656" y="5385816"/>
            <a:ext cx="1426464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8890">
            <a:solidFill>
              <a:srgbClr val="DDDDDD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768096" y="5385816"/>
            <a:ext cx="124358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</a:rPr>
              <a:t>各核心分支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各有专注方向，共同建设生态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732520" y="1901952"/>
            <a:ext cx="630936" cy="201168"/>
          </a:xfrm>
          <a:prstGeom prst="roundRect">
            <a:avLst>
              <a:gd name="adj" fmla="val 18182"/>
            </a:avLst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732520" y="1901952"/>
            <a:ext cx="6309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GROWTH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7168896" y="4096512"/>
            <a:ext cx="786384" cy="201168"/>
          </a:xfrm>
          <a:prstGeom prst="roundRect">
            <a:avLst>
              <a:gd name="adj" fmla="val 18182"/>
            </a:avLst>
          </a:prstGeom>
          <a:solidFill>
            <a:srgbClr val="009999"/>
          </a:solidFill>
          <a:ln w="12700">
            <a:solidFill>
              <a:srgbClr val="00999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168896" y="4096512"/>
            <a:ext cx="7863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INTERNAL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10296144" y="4096512"/>
            <a:ext cx="786384" cy="201168"/>
          </a:xfrm>
          <a:prstGeom prst="roundRect">
            <a:avLst>
              <a:gd name="adj" fmla="val 18182"/>
            </a:avLst>
          </a:prstGeom>
          <a:solidFill>
            <a:srgbClr val="4B5563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296144" y="4096512"/>
            <a:ext cx="7863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EXTERNAL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8238744" y="2157984"/>
            <a:ext cx="1682496" cy="1682496"/>
          </a:xfrm>
          <a:prstGeom prst="ellipse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  <a:effectLst>
            <a:outerShdw sx="100000" sy="100000" kx="0" ky="0" algn="bl" rotWithShape="0" blurRad="127000" dist="63500" dir="2700000">
              <a:srgbClr val="000000">
                <a:alpha val="14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8293608" y="2212848"/>
            <a:ext cx="1572768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组织生长</a:t>
            </a:r>
            <a:endParaRPr lang="en-US" sz="16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A · B · C · D</a:t>
            </a:r>
            <a:endParaRPr lang="en-US" sz="16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各分支自运转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803136" y="4334256"/>
            <a:ext cx="1426464" cy="1426464"/>
          </a:xfrm>
          <a:prstGeom prst="ellipse">
            <a:avLst/>
          </a:prstGeom>
          <a:solidFill>
            <a:srgbClr val="009999"/>
          </a:solidFill>
          <a:ln w="12700">
            <a:solidFill>
              <a:srgbClr val="009999"/>
            </a:solidFill>
            <a:prstDash val="solid"/>
          </a:ln>
          <a:effectLst>
            <a:outerShdw sx="100000" sy="100000" kx="0" ky="0" algn="bl" rotWithShape="0" blurRad="127000" dist="63500" dir="2700000">
              <a:srgbClr val="000000">
                <a:alpha val="14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6858000" y="4389120"/>
            <a:ext cx="1316736" cy="1316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内部协作</a:t>
            </a:r>
            <a:endParaRPr lang="en-US" sz="15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内容串联·知识沉淀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9930384" y="4334256"/>
            <a:ext cx="1426464" cy="1426464"/>
          </a:xfrm>
          <a:prstGeom prst="ellipse">
            <a:avLst/>
          </a:prstGeom>
          <a:solidFill>
            <a:srgbClr val="4B5563"/>
          </a:solidFill>
          <a:ln w="12700">
            <a:solidFill>
              <a:srgbClr val="4B5563"/>
            </a:solidFill>
            <a:prstDash val="solid"/>
          </a:ln>
          <a:effectLst>
            <a:outerShdw sx="100000" sy="100000" kx="0" ky="0" algn="bl" rotWithShape="0" blurRad="127000" dist="63500" dir="2700000">
              <a:srgbClr val="000000">
                <a:alpha val="14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9985248" y="4389120"/>
            <a:ext cx="1316736" cy="1316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外部生态</a:t>
            </a:r>
            <a:endParaRPr lang="en-US" sz="15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竞赛·展会·影响力</a:t>
            </a:r>
            <a:endParaRPr lang="en-US" sz="1500" dirty="0"/>
          </a:p>
        </p:txBody>
      </p:sp>
      <p:sp>
        <p:nvSpPr>
          <p:cNvPr id="45" name="Shape 43"/>
          <p:cNvSpPr/>
          <p:nvPr/>
        </p:nvSpPr>
        <p:spPr>
          <a:xfrm flipH="1">
            <a:off x="8019288" y="3593592"/>
            <a:ext cx="466344" cy="950976"/>
          </a:xfrm>
          <a:prstGeom prst="line">
            <a:avLst/>
          </a:prstGeom>
          <a:noFill/>
          <a:ln w="25400">
            <a:solidFill>
              <a:srgbClr val="BBBBBB"/>
            </a:solidFill>
            <a:prstDash val="solid"/>
            <a:headEnd type="none"/>
            <a:tailEnd type="open"/>
          </a:ln>
        </p:spPr>
      </p:sp>
      <p:sp>
        <p:nvSpPr>
          <p:cNvPr id="46" name="Shape 44"/>
          <p:cNvSpPr/>
          <p:nvPr/>
        </p:nvSpPr>
        <p:spPr>
          <a:xfrm>
            <a:off x="9674352" y="3593592"/>
            <a:ext cx="466344" cy="950976"/>
          </a:xfrm>
          <a:prstGeom prst="line">
            <a:avLst/>
          </a:prstGeom>
          <a:noFill/>
          <a:ln w="25400">
            <a:solidFill>
              <a:srgbClr val="BBBBBB"/>
            </a:solidFill>
            <a:prstDash val="solid"/>
            <a:headEnd type="none"/>
            <a:tailEnd type="open"/>
          </a:ln>
        </p:spPr>
      </p:sp>
      <p:sp>
        <p:nvSpPr>
          <p:cNvPr id="47" name="Shape 45"/>
          <p:cNvSpPr/>
          <p:nvPr/>
        </p:nvSpPr>
        <p:spPr>
          <a:xfrm>
            <a:off x="8229600" y="5047488"/>
            <a:ext cx="1700784" cy="9144"/>
          </a:xfrm>
          <a:prstGeom prst="line">
            <a:avLst/>
          </a:prstGeom>
          <a:noFill/>
          <a:ln w="19050">
            <a:solidFill>
              <a:srgbClr val="CCCCCC"/>
            </a:solidFill>
            <a:prstDash val="dash"/>
            <a:headEnd type="open"/>
            <a:tailEnd type="open"/>
          </a:ln>
        </p:spPr>
      </p:sp>
      <p:sp>
        <p:nvSpPr>
          <p:cNvPr id="48" name="Shape 46"/>
          <p:cNvSpPr/>
          <p:nvPr/>
        </p:nvSpPr>
        <p:spPr>
          <a:xfrm>
            <a:off x="8302752" y="3913632"/>
            <a:ext cx="155448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8890">
            <a:solidFill>
              <a:srgbClr val="DDDDDD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5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8394192" y="3913632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</a:rPr>
              <a:t>组织生长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四大方向各自培育核心 knowhow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6803136" y="5815584"/>
            <a:ext cx="1426464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8890">
            <a:solidFill>
              <a:srgbClr val="DDDDDD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5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6894576" y="5815584"/>
            <a:ext cx="124358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</a:rPr>
              <a:t>内部协作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INO 串联各组，沙龙·播客·培训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9930384" y="5815584"/>
            <a:ext cx="1426464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8890">
            <a:solidFill>
              <a:srgbClr val="DDDDDD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5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10021824" y="5815584"/>
            <a:ext cx="124358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</a:rPr>
              <a:t>外部生态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竞赛·展会·校企合作·开放麦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11430000" y="649224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AAAAA"/>
                </a:solidFill>
              </a:rPr>
              <a:t>01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058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7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九种形式，覆盖知识流动全链条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04088"/>
            <a:ext cx="10515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内部 6 种活动形式  ·  外部 3 种生态连接  ·  每种都有案例可参考</a:t>
            </a:r>
            <a:endParaRPr lang="en-US" sz="1300" dirty="0"/>
          </a:p>
        </p:txBody>
      </p:sp>
      <p:pic>
        <p:nvPicPr>
          <p:cNvPr id="4" name="Image 0" descr="/tmp/ino-ppt/cards-gri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078992"/>
            <a:ext cx="11430000" cy="463600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5870448"/>
            <a:ext cx="11274552" cy="621792"/>
          </a:xfrm>
          <a:prstGeom prst="roundRect">
            <a:avLst>
              <a:gd name="adj" fmla="val 8824"/>
            </a:avLst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5870448"/>
            <a:ext cx="1127455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✦  INO 正在招募</a:t>
            </a:r>
            <a:pPr algn="ctr" indent="0" marL="0">
              <a:buNone/>
            </a:pPr>
            <a:r>
              <a:rPr lang="en-US" sz="1300" dirty="0">
                <a:solidFill>
                  <a:srgbClr val="FFCF9F"/>
                </a:solidFill>
              </a:rPr>
              <a:t>    |    </a:t>
            </a:r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如果你也想让知识持续流动，一起来建设这个引擎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1430000" y="649224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AAAAA"/>
                </a:solidFill>
              </a:rPr>
              <a:t>02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2026-03-22T09:23:35Z</dcterms:created>
  <dcterms:modified xsi:type="dcterms:W3CDTF">2026-03-22T09:23:35Z</dcterms:modified>
</cp:coreProperties>
</file>